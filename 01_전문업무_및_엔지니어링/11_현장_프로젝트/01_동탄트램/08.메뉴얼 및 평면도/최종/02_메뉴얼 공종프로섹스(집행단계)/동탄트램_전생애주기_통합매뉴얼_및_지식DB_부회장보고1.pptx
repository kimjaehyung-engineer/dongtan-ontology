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t>동탄도시철도(트램) 전생애주기 통합매뉴얼 및 지식DB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0"/>
            <a:ext cx="542513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동탄트램 사업단 / 기술전략 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19088"/>
            <a:ext cx="9144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0F2043"/>
                </a:solidFill>
                <a:latin typeface="맑은 고딕"/>
              </a:rPr>
              <a:t>DL E&amp;C   </a:t>
            </a:r>
            <a:r>
              <a:rPr sz="850">
                <a:solidFill>
                  <a:srgbClr val="64748B"/>
                </a:solidFill>
                <a:latin typeface="맑은 고딕"/>
              </a:rPr>
              <a:t>이 정보(문서)는 DL E&amp;C의 자산으로서, 허가 없는 사외반출을 금지합니다.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1908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맑은 고딕"/>
              </a:defRPr>
            </a:pPr>
            <a:r>
              <a:t>PAGE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56692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0F2043"/>
                </a:solidFill>
                <a:latin typeface="맑은 고딕"/>
              </a:rPr>
              <a:t>❚ </a:t>
            </a:r>
            <a:r>
              <a:rPr sz="1350" b="1">
                <a:solidFill>
                  <a:srgbClr val="1E293B"/>
                </a:solidFill>
                <a:latin typeface="맑은 고딕"/>
              </a:rPr>
              <a:t>트램 6대 대표 공종 표준서·수행지침·체크리스트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21792"/>
            <a:ext cx="56692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0F2043"/>
                </a:solidFill>
                <a:latin typeface="맑은 고딕"/>
              </a:rPr>
              <a:t>❚ </a:t>
            </a:r>
            <a:r>
              <a:rPr sz="1350" b="1">
                <a:solidFill>
                  <a:srgbClr val="1E293B"/>
                </a:solidFill>
                <a:latin typeface="맑은 고딕"/>
              </a:rPr>
              <a:t>HTML 기반 동적 매뉴얼의 5대 기술 혁신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2651760" cy="15910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" y="1078992"/>
            <a:ext cx="2505456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① 상부강화노반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468879" cy="1088136"/>
          </a:xfrm>
          <a:prstGeom prst="rect">
            <a:avLst/>
          </a:prstGeom>
          <a:noFill/>
        </p:spPr>
        <p:txBody>
          <a:bodyPr wrap="square" tIns="54864" lIns="36576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지반조사, PVD/DCM 개량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다짐도 ≥ 95%, K30 ≥ 110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Ev2 ≥ 60 품질기준 정밀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79" y="1005840"/>
            <a:ext cx="2651760" cy="15910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27832" y="1078992"/>
            <a:ext cx="2505456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② 콘크리트도상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63040"/>
            <a:ext cx="2468879" cy="1088136"/>
          </a:xfrm>
          <a:prstGeom prst="rect">
            <a:avLst/>
          </a:prstGeom>
          <a:noFill/>
        </p:spPr>
        <p:txBody>
          <a:bodyPr wrap="square" tIns="54864" lIns="36576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노면 매립 궤도 및 체결구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매설 침목 표준 규격 준수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진동·소음 저감 기술 저감 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24912"/>
            <a:ext cx="2651760" cy="15910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" y="2798064"/>
            <a:ext cx="2505456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③ 지장물이설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82112"/>
            <a:ext cx="2468879" cy="1088136"/>
          </a:xfrm>
          <a:prstGeom prst="rect">
            <a:avLst/>
          </a:prstGeom>
          <a:noFill/>
        </p:spPr>
        <p:txBody>
          <a:bodyPr wrap="square" tIns="54864" lIns="36576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GPR 3D 지하 탐사 실시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상하수도·가스·특고압 전력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무단수 연결 정밀 시공 체계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79" y="2724912"/>
            <a:ext cx="2651760" cy="15910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27832" y="2798064"/>
            <a:ext cx="2505456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④ 신호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182112"/>
            <a:ext cx="2468879" cy="1088136"/>
          </a:xfrm>
          <a:prstGeom prst="rect">
            <a:avLst/>
          </a:prstGeom>
          <a:noFill/>
        </p:spPr>
        <p:txBody>
          <a:bodyPr wrap="square" tIns="54864" lIns="36576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LTER / AP 무선 제어 연동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신호 인터페이스 정밀 매핑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트램 우선신호 시스템 제어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43983"/>
            <a:ext cx="2651760" cy="15910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4517136"/>
            <a:ext cx="2505456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⑤ 전력·변전·전차선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01183"/>
            <a:ext cx="2468879" cy="1088136"/>
          </a:xfrm>
          <a:prstGeom prst="rect">
            <a:avLst/>
          </a:prstGeom>
          <a:noFill/>
        </p:spPr>
        <p:txBody>
          <a:bodyPr wrap="square" tIns="54864" lIns="36576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급전 계통 및 변전 설비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귀선 전류 간섭 방지 기술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가공 전차선/무전선 하이브리드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79" y="4443983"/>
            <a:ext cx="2651760" cy="159105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27832" y="4517136"/>
            <a:ext cx="2505456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⑥ 건축·정거장·차량기지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901183"/>
            <a:ext cx="2468879" cy="1088136"/>
          </a:xfrm>
          <a:prstGeom prst="rect">
            <a:avLst/>
          </a:prstGeom>
          <a:noFill/>
        </p:spPr>
        <p:txBody>
          <a:bodyPr wrap="square" tIns="54864" lIns="36576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정거장 플랫폼 및 검수고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승강장 차막이 안전 시설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• 종합 관리·운용 시설 구축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05840"/>
            <a:ext cx="560527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005840"/>
            <a:ext cx="438912" cy="9326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097280"/>
            <a:ext cx="4983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맑은 고딕"/>
              </a:defRPr>
            </a:pPr>
            <a:r>
              <a:t>멀티미디어 무제한 시각화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고화질 시공 사진, 동영상, 3D 시뮬레이션 모델 완전 통합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39112"/>
            <a:ext cx="560527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039112"/>
            <a:ext cx="438912" cy="932688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130552"/>
            <a:ext cx="4983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맑은 고딕"/>
              </a:defRPr>
            </a:pPr>
            <a:r>
              <a:t>웹상 외부 정보 동적 연결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KCS 전문시방서 PDF(p.1 바인딩), 법령 및 외부 지식DB 1:1 연동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072384"/>
            <a:ext cx="560527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072384"/>
            <a:ext cx="438912" cy="9326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163824"/>
            <a:ext cx="4983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맑은 고딕"/>
              </a:defRPr>
            </a:pPr>
            <a:r>
              <a:t>AI 활용 자동화 &amp; 쉬운 업그레이드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AI(Antigravity/LLM)를 통한 1:1 전용 절차서 자동 생성 및 유지보수 용이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05656"/>
            <a:ext cx="560527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105656"/>
            <a:ext cx="438912" cy="932688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197096"/>
            <a:ext cx="4983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맑은 고딕"/>
              </a:defRPr>
            </a:pPr>
            <a:r>
              <a:t>1 Activity = Complete Package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표준서 + 수행지침 + 체크리스트 + 1:1 상세절차서 단일 뷰 통합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38927"/>
            <a:ext cx="560527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5138927"/>
            <a:ext cx="438912" cy="9326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230367"/>
            <a:ext cx="4983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  <a:latin typeface="맑은 고딕"/>
              </a:defRPr>
            </a:pPr>
            <a:r>
              <a:t>전생애주기 연속 진화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맑은 고딕"/>
              </a:defRPr>
            </a:pPr>
            <a:r>
              <a:t>기본 → 실시 → 집행(현장 시공 데이터) → 향후 트램 100% 지식 재활용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t>동탄도시철도(트램) 전생애주기 통합매뉴얼 및 지식DB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0"/>
            <a:ext cx="542513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동탄트램 사업단 / 기술전략 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19088"/>
            <a:ext cx="9144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0F2043"/>
                </a:solidFill>
                <a:latin typeface="맑은 고딕"/>
              </a:rPr>
              <a:t>DL E&amp;C   </a:t>
            </a:r>
            <a:r>
              <a:rPr sz="850">
                <a:solidFill>
                  <a:srgbClr val="64748B"/>
                </a:solidFill>
                <a:latin typeface="맑은 고딕"/>
              </a:rPr>
              <a:t>이 정보(문서)는 DL E&amp;C의 자산으로서, 허가 없는 사외반출을 금지합니다.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19088"/>
            <a:ext cx="2194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맑은 고딕"/>
              </a:defRPr>
            </a:pPr>
            <a:r>
              <a:t>PAGE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56692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0F2043"/>
                </a:solidFill>
                <a:latin typeface="맑은 고딕"/>
              </a:rPr>
              <a:t>❚ </a:t>
            </a:r>
            <a:r>
              <a:rPr sz="1350" b="1">
                <a:solidFill>
                  <a:srgbClr val="1E293B"/>
                </a:solidFill>
                <a:latin typeface="맑은 고딕"/>
              </a:rPr>
              <a:t>1 Activity = 동적 멀티미디어 패키지 실물 구성 (6대 핵심 기능 샘플)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3639312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" y="1078992"/>
            <a:ext cx="349300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2043"/>
                </a:solidFill>
                <a:latin typeface="맑은 고딕"/>
              </a:defRPr>
            </a:pPr>
            <a:r>
              <a:t>01 | KCS 전문시방서 PDF 바로 열기</a:t>
            </a:r>
          </a:p>
        </p:txBody>
      </p:sp>
      <p:pic>
        <p:nvPicPr>
          <p:cNvPr id="9" name="Picture 8" descr="fea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8176"/>
            <a:ext cx="3456432" cy="8961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51376" y="1005840"/>
            <a:ext cx="3639312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24528" y="1078992"/>
            <a:ext cx="349300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2043"/>
                </a:solidFill>
                <a:latin typeface="맑은 고딕"/>
              </a:defRPr>
            </a:pPr>
            <a:r>
              <a:t>02 | 순수 행위 중심 서술식 목적 카드</a:t>
            </a:r>
          </a:p>
        </p:txBody>
      </p:sp>
      <p:pic>
        <p:nvPicPr>
          <p:cNvPr id="12" name="Picture 11" descr="fea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408176"/>
            <a:ext cx="3456432" cy="8961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936992" y="1005840"/>
            <a:ext cx="3639312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0144" y="1078992"/>
            <a:ext cx="349300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2043"/>
                </a:solidFill>
                <a:latin typeface="맑은 고딕"/>
              </a:defRPr>
            </a:pPr>
            <a:r>
              <a:t>03 | 지정 성과 산출물 카드</a:t>
            </a:r>
          </a:p>
        </p:txBody>
      </p:sp>
      <p:pic>
        <p:nvPicPr>
          <p:cNvPr id="15" name="Picture 14" descr="fea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1408176"/>
            <a:ext cx="3456432" cy="8961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5760" y="2423160"/>
            <a:ext cx="3639312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" y="2496312"/>
            <a:ext cx="349300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2043"/>
                </a:solidFill>
                <a:latin typeface="맑은 고딕"/>
              </a:defRPr>
            </a:pPr>
            <a:r>
              <a:t>04 | Step 1~4 다면 검토 카드</a:t>
            </a:r>
          </a:p>
        </p:txBody>
      </p:sp>
      <p:pic>
        <p:nvPicPr>
          <p:cNvPr id="18" name="Picture 17" descr="feat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25496"/>
            <a:ext cx="3456432" cy="8961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151376" y="2423160"/>
            <a:ext cx="3639312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24528" y="2496312"/>
            <a:ext cx="349300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2043"/>
                </a:solidFill>
                <a:latin typeface="맑은 고딕"/>
              </a:defRPr>
            </a:pPr>
            <a:r>
              <a:t>05 | 문장별 1:1 독자 상세절차서 HTML</a:t>
            </a:r>
          </a:p>
        </p:txBody>
      </p:sp>
      <p:pic>
        <p:nvPicPr>
          <p:cNvPr id="21" name="Picture 20" descr="feat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16" y="2825496"/>
            <a:ext cx="3456432" cy="89611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936992" y="2423160"/>
            <a:ext cx="3639312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0144" y="2496312"/>
            <a:ext cx="349300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2043"/>
                </a:solidFill>
                <a:latin typeface="맑은 고딕"/>
              </a:defRPr>
            </a:pPr>
            <a:r>
              <a:t>06 | 현장 시공 사진 &amp; 동영상 수록</a:t>
            </a:r>
          </a:p>
        </p:txBody>
      </p:sp>
      <p:pic>
        <p:nvPicPr>
          <p:cNvPr id="24" name="Picture 23" descr="feat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1" y="2825496"/>
            <a:ext cx="3456432" cy="8961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760" y="3977639"/>
            <a:ext cx="56692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0F2043"/>
                </a:solidFill>
                <a:latin typeface="맑은 고딕"/>
              </a:rPr>
              <a:t>❚ </a:t>
            </a:r>
            <a:r>
              <a:rPr sz="1350" b="1">
                <a:solidFill>
                  <a:srgbClr val="1E293B"/>
                </a:solidFill>
                <a:latin typeface="맑은 고딕"/>
              </a:rPr>
              <a:t>합사 초석 ➔ 전사 지식 자산화 로드맵 &amp; 부회장님 결의 요청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370832"/>
            <a:ext cx="54864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70832"/>
            <a:ext cx="5486400" cy="329184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전사 지식 자산화 로드맵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754880"/>
            <a:ext cx="5266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  <a:latin typeface="맑은 고딕"/>
              </a:defRPr>
            </a:pPr>
            <a:r>
              <a:t>■ Short-Term: 합사 현장 중심 진화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맑은 고딕"/>
              </a:defRPr>
            </a:pPr>
            <a:r>
              <a:t>동탄트램 합사 사무소에서 현장 사진·동영상·1:1 시험성적서 데이터를 실시간 누적 업데이트 (v6 → v7)</a:t>
            </a:r>
          </a:p>
          <a:p>
            <a:pPr>
              <a:spcBef>
                <a:spcPts val="800"/>
              </a:spcBef>
              <a:defRPr sz="1050" b="1">
                <a:solidFill>
                  <a:srgbClr val="1D4ED8"/>
                </a:solidFill>
                <a:latin typeface="맑은 고딕"/>
              </a:defRPr>
            </a:pPr>
            <a:r>
              <a:t>■ Mid/Long-Term: 사내 매뉴얼 시스템 탑재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맑은 고딕"/>
              </a:defRPr>
            </a:pPr>
            <a:r>
              <a:t>사내 표준 매뉴얼 시스템에 통합 탑재하여, 향후 신규 트램 사업 수주 시 100% 재활용하는 독점 지식 자산화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370832"/>
            <a:ext cx="5788152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4370832"/>
            <a:ext cx="5788152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부회장님 결의 요청 사항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754880"/>
            <a:ext cx="55138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043"/>
                </a:solidFill>
                <a:latin typeface="맑은 고딕"/>
              </a:defRPr>
            </a:pPr>
            <a:r>
              <a:t>■ [요청 1] 합사 중심 동적 지식 DB 연속 진화 운영안 승인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맑은 고딕"/>
              </a:defRPr>
            </a:pPr>
            <a:r>
              <a:t>동탄트램 합사 현장 기반의 지식 DB를 v6 → v7로 연속 진화시키는 운영 체계 승인</a:t>
            </a:r>
          </a:p>
          <a:p>
            <a:pPr>
              <a:spcBef>
                <a:spcPts val="800"/>
              </a:spcBef>
              <a:defRPr sz="1050" b="1">
                <a:solidFill>
                  <a:srgbClr val="0F2043"/>
                </a:solidFill>
                <a:latin typeface="맑은 고딕"/>
              </a:defRPr>
            </a:pPr>
            <a:r>
              <a:t>■ [요청 2] 사내 표준 매뉴얼 시스템 연계 및 자산화 결의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맑은 고딕"/>
              </a:defRPr>
            </a:pPr>
            <a:r>
              <a:t>동적 지식 DB를 사내 표준 매뉴얼 시스템에 통합 탑재하여, 향후 모든 트램 사업에 100% 재활용하는 독점 지식 자산화 결의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